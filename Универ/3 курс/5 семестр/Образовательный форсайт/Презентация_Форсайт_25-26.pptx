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356" r:id="rId3"/>
    <p:sldId id="382" r:id="rId4"/>
    <p:sldId id="383" r:id="rId5"/>
    <p:sldId id="384" r:id="rId6"/>
    <p:sldId id="389" r:id="rId7"/>
    <p:sldId id="392" r:id="rId8"/>
    <p:sldId id="390" r:id="rId9"/>
    <p:sldId id="391" r:id="rId10"/>
    <p:sldId id="400" r:id="rId11"/>
    <p:sldId id="385" r:id="rId12"/>
    <p:sldId id="386" r:id="rId13"/>
    <p:sldId id="387" r:id="rId14"/>
    <p:sldId id="388" r:id="rId15"/>
    <p:sldId id="393" r:id="rId16"/>
    <p:sldId id="394" r:id="rId17"/>
    <p:sldId id="395" r:id="rId18"/>
    <p:sldId id="396" r:id="rId19"/>
    <p:sldId id="397" r:id="rId20"/>
    <p:sldId id="398" r:id="rId21"/>
    <p:sldId id="401" r:id="rId22"/>
    <p:sldId id="381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F00"/>
    <a:srgbClr val="EBEBEB"/>
    <a:srgbClr val="434343"/>
    <a:srgbClr val="37B34A"/>
    <a:srgbClr val="21A649"/>
    <a:srgbClr val="276D3F"/>
    <a:srgbClr val="4D7D3F"/>
    <a:srgbClr val="09A14D"/>
    <a:srgbClr val="067639"/>
    <a:srgbClr val="07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3"/>
    <p:restoredTop sz="96977" autoAdjust="0"/>
  </p:normalViewPr>
  <p:slideViewPr>
    <p:cSldViewPr snapToGrid="0" snapToObjects="1">
      <p:cViewPr varScale="1">
        <p:scale>
          <a:sx n="78" d="100"/>
          <a:sy n="78" d="100"/>
        </p:scale>
        <p:origin x="137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>
        <p:scale>
          <a:sx n="100" d="100"/>
          <a:sy n="100" d="100"/>
        </p:scale>
        <p:origin x="-2386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887DE-3F12-D74A-8FD6-D6755CBC1A56}" type="datetimeFigureOut">
              <a:rPr lang="ru-RU" smtClean="0"/>
              <a:pPr/>
              <a:t>11.09.2025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A7856-9170-C642-98B0-85246FD9BF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575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32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540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0" y="2141316"/>
            <a:ext cx="9144000" cy="2453838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71345"/>
            <a:ext cx="7772400" cy="165246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051139"/>
            <a:ext cx="7772400" cy="416689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9144000" cy="902821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Объект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919" y="4338"/>
            <a:ext cx="7886700" cy="898484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3" y="284587"/>
            <a:ext cx="1932971" cy="502887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0" y="6414225"/>
            <a:ext cx="9144000" cy="468775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>
          <a:xfrm>
            <a:off x="3543300" y="6436852"/>
            <a:ext cx="2057400" cy="365125"/>
          </a:xfrm>
        </p:spPr>
        <p:txBody>
          <a:bodyPr anchor="ctr"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fld id="{417111F3-19CC-A94E-B0FD-1989B44291B9}" type="datetime1">
              <a:rPr lang="ru-RU" smtClean="0"/>
              <a:pPr/>
              <a:t>11.09.2025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838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Титульный слайд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0" y="1944547"/>
            <a:ext cx="9144000" cy="3044143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71344"/>
            <a:ext cx="77724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247906"/>
            <a:ext cx="7772400" cy="462991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9144000" cy="902821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Объект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919" y="4338"/>
            <a:ext cx="7886700" cy="898484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3" y="284587"/>
            <a:ext cx="1932971" cy="502887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0" y="6414225"/>
            <a:ext cx="9144000" cy="468775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>
          <a:xfrm>
            <a:off x="3543300" y="6436852"/>
            <a:ext cx="2057400" cy="365125"/>
          </a:xfrm>
        </p:spPr>
        <p:txBody>
          <a:bodyPr anchor="ctr"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fld id="{74EEDE86-207E-BA4C-83D4-5CE763B6EBC8}" type="datetime1">
              <a:rPr lang="ru-RU" smtClean="0"/>
              <a:pPr/>
              <a:t>11.09.2025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039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>
          <a:xfrm>
            <a:off x="3543300" y="6436852"/>
            <a:ext cx="2057400" cy="421149"/>
          </a:xfrm>
        </p:spPr>
        <p:txBody>
          <a:bodyPr anchor="ctr"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fld id="{A01A9D32-9F01-6440-A725-541402382076}" type="datetime1">
              <a:rPr lang="ru-RU" smtClean="0"/>
              <a:pPr/>
              <a:t>11.09.2025</a:t>
            </a:fld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1"/>
            <a:ext cx="9144000" cy="6882999"/>
          </a:xfrm>
          <a:prstGeom prst="rect">
            <a:avLst/>
          </a:prstGeom>
          <a:solidFill>
            <a:srgbClr val="434343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85800" y="2271344"/>
            <a:ext cx="77724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bg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85800" y="4247906"/>
            <a:ext cx="7772400" cy="462991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18" name="Изображение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1"/>
            <a:ext cx="9144000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0" y="1944547"/>
            <a:ext cx="9144000" cy="20602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85800" y="2201897"/>
            <a:ext cx="7772400" cy="151357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pic>
        <p:nvPicPr>
          <p:cNvPr id="10" name="Изображение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84" y="179929"/>
            <a:ext cx="1063789" cy="2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0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ая_страница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0" y="-248"/>
            <a:ext cx="9144000" cy="578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Изображение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25" y="172229"/>
            <a:ext cx="1136409" cy="2332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57" y="2"/>
            <a:ext cx="6750131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024" y="868103"/>
            <a:ext cx="8289563" cy="5208607"/>
          </a:xfrm>
          <a:effectLst>
            <a:outerShdw blurRad="50800" dist="50800" dir="5400000" algn="ctr" rotWithShape="0">
              <a:srgbClr val="EBEBEB"/>
            </a:outerShdw>
          </a:effectLst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6462612"/>
            <a:ext cx="9144000" cy="3953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83677"/>
            <a:ext cx="20574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fld id="{47E8B3EB-C589-314F-BBE8-5A42F2EA375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08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аница_2_колонки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0" y="-248"/>
            <a:ext cx="9144000" cy="578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Изображение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25" y="172229"/>
            <a:ext cx="1136409" cy="233237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0" y="6462612"/>
            <a:ext cx="9144000" cy="3953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6483677"/>
            <a:ext cx="20574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fld id="{47E8B3EB-C589-314F-BBE8-5A42F2EA375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403024" y="863591"/>
            <a:ext cx="4111827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863591"/>
            <a:ext cx="4063437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42457" y="2"/>
            <a:ext cx="6750131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67FBE-727B-D24A-B2F7-F1C6B17C32AD}" type="datetime1">
              <a:rPr lang="ru-RU" smtClean="0"/>
              <a:pPr/>
              <a:t>11.09.2025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Изображение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84" y="179929"/>
            <a:ext cx="1063789" cy="2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0" y="6462612"/>
            <a:ext cx="9144000" cy="3953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1" y="838092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1" y="6483674"/>
            <a:ext cx="20574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fld id="{8EF89B46-E882-AD4D-B512-49726B71C43E}" type="datetime1">
              <a:rPr lang="ru-RU" smtClean="0"/>
              <a:pPr/>
              <a:t>11.09.2025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1" y="6483677"/>
            <a:ext cx="30861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1" y="6495252"/>
            <a:ext cx="20574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fld id="{47E8B3EB-C589-314F-BBE8-5A42F2EA375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-248"/>
            <a:ext cx="9144000" cy="578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Изображение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25" y="172229"/>
            <a:ext cx="1136409" cy="233237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1942457" y="2"/>
            <a:ext cx="6750131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tx1"/>
                </a:solidFill>
                <a:latin typeface="PT Sans" charset="-52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05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_за_внима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5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6750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669A4-D85B-7842-96D8-59D9CC4B44DF}" type="datetime1">
              <a:rPr lang="ru-RU" smtClean="0"/>
              <a:pPr/>
              <a:t>11.09.2025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8B3EB-C589-314F-BBE8-5A42F2EA375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6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74" r:id="rId3"/>
    <p:sldLayoutId id="2147483677" r:id="rId4"/>
    <p:sldLayoutId id="2147483662" r:id="rId5"/>
    <p:sldLayoutId id="2147483676" r:id="rId6"/>
    <p:sldLayoutId id="2147483667" r:id="rId7"/>
    <p:sldLayoutId id="2147483672" r:id="rId8"/>
    <p:sldLayoutId id="2147483678" r:id="rId9"/>
    <p:sldLayoutId id="2147483679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p.spbstu.ru/perechen_kursov_modulya_mobilnosti_trek_obrazovatelnyy_forsayt_na_2025_2026_uchebnyy_god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l-hum.spbstu.ru/course/view.php?id=10544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ms.spbstu.ru/course/view.php?id=17662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763524" y="2357905"/>
            <a:ext cx="7772400" cy="206169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2800" dirty="0">
                <a:solidFill>
                  <a:schemeClr val="tx1"/>
                </a:solidFill>
              </a:rPr>
              <a:t>ОБРАЗОВАТЕЛЬНЫЙ ФОРСАЙТ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>
                <a:solidFill>
                  <a:schemeClr val="tx1"/>
                </a:solidFill>
              </a:rPr>
              <a:t>2025/2026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>
                <a:solidFill>
                  <a:schemeClr val="tx1"/>
                </a:solidFill>
              </a:rPr>
              <a:t>(3 курс бакалавров)</a:t>
            </a:r>
          </a:p>
        </p:txBody>
      </p:sp>
    </p:spTree>
    <p:extLst>
      <p:ext uri="{BB962C8B-B14F-4D97-AF65-F5344CB8AC3E}">
        <p14:creationId xmlns:p14="http://schemas.microsoft.com/office/powerpoint/2010/main" val="52680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33120" y="889844"/>
            <a:ext cx="76504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мобильности (</a:t>
            </a:r>
            <a:r>
              <a:rPr lang="ru-RU" sz="2400" b="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b="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  <a:r>
              <a:rPr lang="ru-RU" sz="2400" b="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это элективная (выборная) часть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основнои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образовательнои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программы, направленная на реализацию возможности получения дополнительных компетенций в смежных областях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профессиональнои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деятельности. Модуль мобильности относится к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вариативнои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части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образовательнои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программы и реализуется как выбор обучающимися ряда дисциплин</a:t>
            </a:r>
          </a:p>
          <a:p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освоения:</a:t>
            </a:r>
            <a:endParaRPr lang="ru-RU" sz="2400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студентов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бакалавриата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специалитета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- 3 курс* </a:t>
            </a:r>
            <a:endParaRPr lang="en-US" sz="2400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u="sng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 и 6 семестры);</a:t>
            </a:r>
            <a:endParaRPr lang="ru-RU" sz="2400" b="1" i="0" u="sng" dirty="0">
              <a:solidFill>
                <a:srgbClr val="4C4C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23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5120" y="1172756"/>
            <a:ext cx="834136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реализуется в виде индивидуальных траекторий:</a:t>
            </a:r>
            <a:endParaRPr lang="en-US" sz="2800" b="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8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Образовательныи</a:t>
            </a:r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</a:t>
            </a:r>
            <a:r>
              <a:rPr lang="ru-RU" sz="28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форсайт</a:t>
            </a:r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endParaRPr lang="ru-RU" sz="2800" b="0" i="0" dirty="0">
              <a:solidFill>
                <a:srgbClr val="4C4C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Ежегодно формируется перечень курсов модуля мобильности. Руководитель </a:t>
            </a:r>
            <a:r>
              <a:rPr lang="ru-RU" sz="28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образовательнои</a:t>
            </a:r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̆ программы рекомендует </a:t>
            </a:r>
            <a:r>
              <a:rPr lang="ru-RU" sz="28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онлайн-курсы</a:t>
            </a:r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/дисциплины из утвержденного перечня и может рекомендовать </a:t>
            </a:r>
            <a:r>
              <a:rPr lang="ru-RU" sz="28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онлайн-курсы</a:t>
            </a:r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Национальном портале «Открытое образование»</a:t>
            </a:r>
            <a:endParaRPr lang="ru-RU" sz="2800" b="0" i="0" dirty="0">
              <a:solidFill>
                <a:srgbClr val="4C4C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18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64160" y="982901"/>
            <a:ext cx="86214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Промежуточная аттестация по Модулю мобильности</a:t>
            </a:r>
          </a:p>
          <a:p>
            <a:endParaRPr lang="ru-RU" sz="2400" b="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онлайн-курсу: руководитель образовательной программы фиксирует результаты обучения в ведомости текущего контроля на основании прогресса по онлайн-курсу. </a:t>
            </a:r>
          </a:p>
          <a:p>
            <a:endParaRPr lang="ru-RU" sz="2400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отсутствии прогресса студент проходит промежуточную аттестацию в форме офлайн – </a:t>
            </a:r>
            <a:r>
              <a:rPr lang="ru-RU" sz="2400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прокторинга</a:t>
            </a:r>
            <a:r>
              <a:rPr lang="ru-RU" sz="24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(компьютерное тестирование в аудитории с ограничением по времени в присутствии преподавателя).</a:t>
            </a:r>
            <a:endParaRPr lang="ru-RU" sz="2400" b="0" i="0" dirty="0">
              <a:solidFill>
                <a:srgbClr val="4C4C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07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ВЫБОРА ДИСЦИПЛИН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0880" y="1281837"/>
            <a:ext cx="79204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u="sng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онлайн-курсы студентов записывают централизованно</a:t>
            </a:r>
            <a:r>
              <a:rPr lang="ru-RU" sz="2800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используя параметры единой учетной записи (обязательно наличие корпоративной почты студента).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3653977"/>
            <a:ext cx="8047990" cy="18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8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КУРСОВ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F180C7-83C8-5DE0-7807-9CFE1338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47" y="840351"/>
            <a:ext cx="4676775" cy="4705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8B1339-E9E5-4F2F-299F-BDE754A3E424}"/>
              </a:ext>
            </a:extLst>
          </p:cNvPr>
          <p:cNvSpPr txBox="1"/>
          <p:nvPr/>
        </p:nvSpPr>
        <p:spPr>
          <a:xfrm>
            <a:off x="5581535" y="1951672"/>
            <a:ext cx="29217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https://dep.spbstu.ru/perechen_kursov_modulya_mobilnosti_trek_obrazovatelnyy_forsayt_na_2025_2026_uchebnyy_god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191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8800" y="1125696"/>
            <a:ext cx="79204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Вам необходимо выбрать онлайн-курсы для всего периода изучения Модуля мобильности: </a:t>
            </a: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Бакалавры – для 5 и 6 семестра (в сумме </a:t>
            </a:r>
            <a:r>
              <a:rPr lang="ru-RU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менее 6 ЗЕТ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предмет 3 зет + Второй предмет 3 зет</a:t>
            </a: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предмет 4 зет + Второй предмет 2 зет</a:t>
            </a: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предмет 2 зет + Второй предмет 4 зет</a:t>
            </a: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предмет 2 зет + Второй предмет 2 зет + Третий предмет 2 зет</a:t>
            </a:r>
          </a:p>
          <a:p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Возможно!!! 5+2 или 4+3, т.е. превышение 6 зет на 1-2 зет</a:t>
            </a:r>
          </a:p>
          <a:p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27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РЕКОМЕНДОВАННЫЕ КУРСЫ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68382"/>
              </p:ext>
            </p:extLst>
          </p:nvPr>
        </p:nvGraphicFramePr>
        <p:xfrm>
          <a:off x="660399" y="871408"/>
          <a:ext cx="7934961" cy="4486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4987">
                  <a:extLst>
                    <a:ext uri="{9D8B030D-6E8A-4147-A177-3AD203B41FA5}">
                      <a16:colId xmlns:a16="http://schemas.microsoft.com/office/drawing/2014/main" val="632304700"/>
                    </a:ext>
                  </a:extLst>
                </a:gridCol>
                <a:gridCol w="1453427">
                  <a:extLst>
                    <a:ext uri="{9D8B030D-6E8A-4147-A177-3AD203B41FA5}">
                      <a16:colId xmlns:a16="http://schemas.microsoft.com/office/drawing/2014/main" val="2191366790"/>
                    </a:ext>
                  </a:extLst>
                </a:gridCol>
                <a:gridCol w="3836547">
                  <a:extLst>
                    <a:ext uri="{9D8B030D-6E8A-4147-A177-3AD203B41FA5}">
                      <a16:colId xmlns:a16="http://schemas.microsoft.com/office/drawing/2014/main" val="2374831357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r>
                        <a:rPr lang="ru-RU" sz="1400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Количество зачетных единиц (ЗЕТ)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5756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Делопроизводство (Документационное обеспечение)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https://openedu.ru/course/spbstu/CLEWO/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45779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История государственного управления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https://openedu.ru/course/spbstu/HISPADM/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58551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История и методология науки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https://openedu.ru/course/spbstu/SCIHM/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930179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Педагогический дизайн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https://openedu.ru/course/spbstu/EDUDES/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86977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Русский язык и культура речи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https://openedu.ru/course/spbstu/RLCS/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8518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Логика и теория аргументации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https://openedu.ru/course/spbstu/LTARG/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3749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командами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https://openedu.ru/course/spbstu/TEAMM/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372955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9CFEC7C-E4A0-AF08-976D-E77AE3A55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085606"/>
              </p:ext>
            </p:extLst>
          </p:nvPr>
        </p:nvGraphicFramePr>
        <p:xfrm>
          <a:off x="660399" y="5357683"/>
          <a:ext cx="7934961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4987">
                  <a:extLst>
                    <a:ext uri="{9D8B030D-6E8A-4147-A177-3AD203B41FA5}">
                      <a16:colId xmlns:a16="http://schemas.microsoft.com/office/drawing/2014/main" val="2604377432"/>
                    </a:ext>
                  </a:extLst>
                </a:gridCol>
                <a:gridCol w="1482924">
                  <a:extLst>
                    <a:ext uri="{9D8B030D-6E8A-4147-A177-3AD203B41FA5}">
                      <a16:colId xmlns:a16="http://schemas.microsoft.com/office/drawing/2014/main" val="1050876932"/>
                    </a:ext>
                  </a:extLst>
                </a:gridCol>
                <a:gridCol w="3807050">
                  <a:extLst>
                    <a:ext uri="{9D8B030D-6E8A-4147-A177-3AD203B41FA5}">
                      <a16:colId xmlns:a16="http://schemas.microsoft.com/office/drawing/2014/main" val="1108895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77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Язык делового общения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https://dl-hum.spbstu.ru/course/view.php?id=10544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068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71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РЕКОМЕНДОВАННЫЕ КУРСЫ (для иностранных студентов)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297774"/>
              </p:ext>
            </p:extLst>
          </p:nvPr>
        </p:nvGraphicFramePr>
        <p:xfrm>
          <a:off x="806245" y="577944"/>
          <a:ext cx="7789115" cy="456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141">
                  <a:extLst>
                    <a:ext uri="{9D8B030D-6E8A-4147-A177-3AD203B41FA5}">
                      <a16:colId xmlns:a16="http://schemas.microsoft.com/office/drawing/2014/main" val="632304700"/>
                    </a:ext>
                  </a:extLst>
                </a:gridCol>
                <a:gridCol w="2644987">
                  <a:extLst>
                    <a:ext uri="{9D8B030D-6E8A-4147-A177-3AD203B41FA5}">
                      <a16:colId xmlns:a16="http://schemas.microsoft.com/office/drawing/2014/main" val="2191366790"/>
                    </a:ext>
                  </a:extLst>
                </a:gridCol>
                <a:gridCol w="2644987">
                  <a:extLst>
                    <a:ext uri="{9D8B030D-6E8A-4147-A177-3AD203B41FA5}">
                      <a16:colId xmlns:a16="http://schemas.microsoft.com/office/drawing/2014/main" val="2374831357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Количество зачетных единиц (ЗЕТ)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5756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 speaking Russian: A2+.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Русский язык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2+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https://openedu.ru/course/spbstu/STSPRUS/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457796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Русский язык и культура речи 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https://lms.spbstu.ru/course/view.php?id=17662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58551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командами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https://openedu.ru/course/spbstu/TEAMM/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930179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86977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8518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3749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37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55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65E7D1-71E3-4A79-78A7-1ECBB9F0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2" y="1238864"/>
            <a:ext cx="8549976" cy="453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6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89280" y="951062"/>
            <a:ext cx="81033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Выбор индивидуальной траектории «Образовательный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форсайт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Модуля мобильности осуществляется через </a:t>
            </a:r>
            <a:r>
              <a:rPr lang="ru-RU" sz="2400" dirty="0">
                <a:solidFill>
                  <a:srgbClr val="0562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 студента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20" y="2672080"/>
            <a:ext cx="3484880" cy="34848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657600"/>
            <a:ext cx="3200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85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9" y="1076960"/>
            <a:ext cx="8137929" cy="474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35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6" y="1696719"/>
            <a:ext cx="9041164" cy="297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79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5" y="1056640"/>
            <a:ext cx="8543544" cy="50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57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3" y="1862137"/>
            <a:ext cx="8409635" cy="196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3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559" y="1111280"/>
            <a:ext cx="6674401" cy="33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43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99440" y="1058317"/>
            <a:ext cx="81991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 завершения выбора онлайн-курсов, необходимо сохранить результаты, нажав на кнопку «Утвердить».</a:t>
            </a:r>
          </a:p>
          <a:p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Обратите внимание, что после сохранения результатов, возможность изменить выбор пропадёт. </a:t>
            </a:r>
            <a:endParaRPr lang="ru-RU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12" y="2865520"/>
            <a:ext cx="7624576" cy="22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83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17" y="1381020"/>
            <a:ext cx="7670926" cy="291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27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025" y="1942811"/>
            <a:ext cx="8289563" cy="214941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того, как выбор дисциплин сделан, необходимо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заполнить заявление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отразить в нем выбранные курсы и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сдать заявление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ВШМО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(кабинет 104, 16 корпус) до вечера 16 сентября 2025 г.</a:t>
            </a:r>
          </a:p>
        </p:txBody>
      </p:sp>
    </p:spTree>
    <p:extLst>
      <p:ext uri="{BB962C8B-B14F-4D97-AF65-F5344CB8AC3E}">
        <p14:creationId xmlns:p14="http://schemas.microsoft.com/office/powerpoint/2010/main" val="3976708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" y="674194"/>
            <a:ext cx="7101125" cy="571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88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09065-C07F-9F4E-8B24-7027FAC3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D67CAD-D4A4-1650-97E7-6FC6A5BC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37" y="743523"/>
            <a:ext cx="6893871" cy="554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9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111647"/>
      </p:ext>
    </p:extLst>
  </p:cSld>
  <p:clrMapOvr>
    <a:masterClrMapping/>
  </p:clrMapOvr>
</p:sld>
</file>

<file path=ppt/theme/theme1.xml><?xml version="1.0" encoding="utf-8"?>
<a:theme xmlns:a="http://schemas.openxmlformats.org/drawingml/2006/main" name="Polytech_theme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ytech_presentation.potx" id="{0C3B3220-C52F-CE4F-9D40-4AE4710B99FC}" vid="{79B74601-811A-364F-91C2-904BAD2FC06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1574</TotalTime>
  <Words>620</Words>
  <Application>Microsoft Office PowerPoint</Application>
  <PresentationFormat>Экран (4:3)</PresentationFormat>
  <Paragraphs>79</Paragraphs>
  <Slides>22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PT Sans</vt:lpstr>
      <vt:lpstr>Times New Roman</vt:lpstr>
      <vt:lpstr>Polytech_theme</vt:lpstr>
      <vt:lpstr>ОБРАЗОВАТЕЛЬНЫЙ ФОРСАЙТ 2025/2026 (3 курс бакалавров)</vt:lpstr>
      <vt:lpstr>Презентация PowerPoint</vt:lpstr>
      <vt:lpstr>Презентация PowerPoint</vt:lpstr>
      <vt:lpstr>Презентация PowerPoint</vt:lpstr>
      <vt:lpstr>АЛГОРИТМ ВЫБОРА ДИСЦИПЛИН</vt:lpstr>
      <vt:lpstr>СПИСОК КУРСОВ</vt:lpstr>
      <vt:lpstr>Презентация PowerPoint</vt:lpstr>
      <vt:lpstr>РЕКОМЕНДОВАННЫЕ КУРСЫ</vt:lpstr>
      <vt:lpstr>РЕКОМЕНДОВАННЫЕ КУРСЫ (для иностранных студентов)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Представление Санкт-Петербургского политехнического университета Петра Великого в интернете и в социальных ресурсах</dc:title>
  <dc:creator>пользователь Microsoft Office</dc:creator>
  <cp:lastModifiedBy>Daria Lubina</cp:lastModifiedBy>
  <cp:revision>180</cp:revision>
  <dcterms:created xsi:type="dcterms:W3CDTF">2016-02-02T13:12:08Z</dcterms:created>
  <dcterms:modified xsi:type="dcterms:W3CDTF">2025-09-11T06:50:13Z</dcterms:modified>
</cp:coreProperties>
</file>