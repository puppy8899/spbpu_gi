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70" r:id="rId5"/>
    <p:sldId id="275" r:id="rId6"/>
    <p:sldId id="271" r:id="rId7"/>
    <p:sldId id="258" r:id="rId8"/>
    <p:sldId id="276" r:id="rId9"/>
    <p:sldId id="277" r:id="rId10"/>
    <p:sldId id="260" r:id="rId11"/>
    <p:sldId id="285" r:id="rId12"/>
    <p:sldId id="286" r:id="rId13"/>
    <p:sldId id="289" r:id="rId14"/>
    <p:sldId id="288" r:id="rId15"/>
    <p:sldId id="287" r:id="rId16"/>
    <p:sldId id="273" r:id="rId17"/>
    <p:sldId id="278" r:id="rId18"/>
    <p:sldId id="259" r:id="rId19"/>
    <p:sldId id="279" r:id="rId20"/>
    <p:sldId id="263" r:id="rId21"/>
    <p:sldId id="262" r:id="rId22"/>
    <p:sldId id="274" r:id="rId23"/>
    <p:sldId id="280" r:id="rId24"/>
    <p:sldId id="261" r:id="rId25"/>
    <p:sldId id="265" r:id="rId26"/>
    <p:sldId id="281" r:id="rId27"/>
    <p:sldId id="264" r:id="rId28"/>
    <p:sldId id="282" r:id="rId29"/>
    <p:sldId id="267" r:id="rId30"/>
    <p:sldId id="283" r:id="rId31"/>
    <p:sldId id="269" r:id="rId32"/>
    <p:sldId id="268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Windows" initials="ПW" lastIdx="1" clrIdx="0">
    <p:extLst>
      <p:ext uri="{19B8F6BF-5375-455C-9EA6-DF929625EA0E}">
        <p15:presenceInfo xmlns:p15="http://schemas.microsoft.com/office/powerpoint/2012/main" userId="Пользователь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2607" autoAdjust="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2-09T19:25:11.002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48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317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87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56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56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01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22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13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60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48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31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C0F54-76A5-4262-A593-CF2A057A609D}" type="datetimeFigureOut">
              <a:rPr lang="ru-RU" smtClean="0"/>
              <a:t>02.09.2025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9D060-9E45-4C22-98B3-8AF370B16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033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ibelli.ru/works/lekcii.ht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/index.php?title=%D0%93%D0%B0%D1%80%D0%B1%D0%BE%D0%B2%D1%81%D0%BA%D0%B8%D0%B9,_%D0%9D%D0%B8%D0%BA%D0%BE%D0%BB%D0%B0%D0%B9_%D0%9A%D0%BE%D0%BD%D1%81%D1%82%D0%B0%D0%BD%D1%82%D0%B8%D0%BD%D0%BE%D0%B2%D0%B8%D1%87&amp;action=edit&amp;redlink=1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433137"/>
            <a:ext cx="9144000" cy="1315452"/>
          </a:xfrm>
        </p:spPr>
        <p:txBody>
          <a:bodyPr>
            <a:normAutofit/>
          </a:bodyPr>
          <a:lstStyle/>
          <a:p>
            <a:r>
              <a:rPr lang="ru-RU" dirty="0"/>
              <a:t>И</a:t>
            </a:r>
            <a:r>
              <a:rPr lang="ru-RU" dirty="0" smtClean="0"/>
              <a:t>стория мировых религий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38989" y="2158248"/>
            <a:ext cx="9144000" cy="3889625"/>
          </a:xfrm>
        </p:spPr>
        <p:txBody>
          <a:bodyPr>
            <a:normAutofit fontScale="70000" lnSpcReduction="20000"/>
          </a:bodyPr>
          <a:lstStyle/>
          <a:p>
            <a:r>
              <a:rPr lang="ru-RU" sz="7700" dirty="0" smtClean="0"/>
              <a:t>Лекция 1. </a:t>
            </a:r>
          </a:p>
          <a:p>
            <a:r>
              <a:rPr lang="ru-RU" sz="7700" dirty="0" smtClean="0"/>
              <a:t>Что такое религия? Основные определения религии и подходы к ее изучению.</a:t>
            </a:r>
          </a:p>
          <a:p>
            <a:r>
              <a:rPr lang="ru-RU" sz="7700" dirty="0" smtClean="0"/>
              <a:t>Структура религиозного мировоззрения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662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9318" y="240434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религия? Основные определения «религии».</a:t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0273" y="1396135"/>
            <a:ext cx="11173691" cy="51847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Латинское </a:t>
            </a:r>
            <a:r>
              <a:rPr lang="ru-RU" sz="3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существительное </a:t>
            </a:r>
            <a:r>
              <a:rPr lang="ru-RU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religio</a:t>
            </a:r>
            <a:r>
              <a:rPr lang="ru-RU" sz="3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sub. f</a:t>
            </a:r>
            <a:r>
              <a:rPr lang="ru-RU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endParaRPr lang="ru-RU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</a:pP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Совестливость, 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добросовестность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arenR"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благочестие, 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благоговение (</a:t>
            </a:r>
            <a:r>
              <a:rPr lang="de-DE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religio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deorum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богами, поклонение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богам, 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набожность;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богослужение, обряды; </a:t>
            </a: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святыня, священный предмет, вещий знак, знамение; </a:t>
            </a: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сомнение, 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неуверенность, суеверие; 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Преступление против совести, грех, вина.</a:t>
            </a:r>
          </a:p>
          <a:p>
            <a:pPr marL="0" indent="0">
              <a:buNone/>
            </a:pPr>
            <a:endParaRPr lang="ru-RU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3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Глагол «</a:t>
            </a:r>
            <a:r>
              <a:rPr lang="en-US" sz="3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religare</a:t>
            </a:r>
            <a:r>
              <a:rPr lang="ru-RU" sz="3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связывать сзади, обвязывать, захватывать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12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15636" y="321302"/>
            <a:ext cx="101830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древнегреческом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языке слову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соответствует</a:t>
            </a:r>
          </a:p>
          <a:p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существительное </a:t>
            </a:r>
            <a:r>
              <a:rPr lang="el-GR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Θρησκεία</a:t>
            </a:r>
            <a:r>
              <a:rPr lang="el-GR" sz="3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религиозный обряд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богопочитание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богослужение, соблюдение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культовых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предписаний.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 же для производных глагола и прилагательного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санскрите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dharma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учение, добродетель, закон, образец, идеал, норма, форма, истина, причина, порядок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мироздания и соответствующий ему образ жизни.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12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9382" y="161176"/>
            <a:ext cx="11637818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Ксенофан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Колофона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(=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совр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Измир)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570 до н. э. - 475 до н. э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древнегреческий поэт и философ. 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2317" y="1274618"/>
            <a:ext cx="3689683" cy="36298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295" y="1364188"/>
            <a:ext cx="83900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Антропоморфичекая</a:t>
            </a:r>
            <a:r>
              <a:rPr lang="ru-RU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представления о богах.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«Если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 руки имели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быки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или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львы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или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кони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б писать, точно люди, умели они что угодно,</a:t>
            </a:r>
          </a:p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Кони коням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богов уподобили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образ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бычий</a:t>
            </a: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Дали б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бессмертным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богам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быки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их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наружность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сравнил бы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тою породой, к какой он и сам на земле сопричастен…</a:t>
            </a:r>
          </a:p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Черными мыслят богов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курносыми все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эфиопы,</a:t>
            </a:r>
          </a:p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Голубоокими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их же и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русыми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мыслят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фракийцы…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2659" y="6396335"/>
            <a:ext cx="667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 поэмы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«О природе».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Ф.Ф.Зелинского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35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40632" y="160421"/>
            <a:ext cx="11726779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В </a:t>
            </a:r>
            <a:r>
              <a:rPr lang="ru-RU" sz="3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поэтическом цикле 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ru-RU" sz="32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Силлы</a:t>
            </a:r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» он первым высказал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критику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религиозного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полиморфизма </a:t>
            </a:r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и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многобожия</a:t>
            </a:r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</a:p>
          <a:p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«При 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этом «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каждый народ выдумывает своих богов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». </a:t>
            </a:r>
            <a:endParaRPr lang="ru-RU" sz="32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В </a:t>
            </a:r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действительности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Бог вечен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один, подобен в каждой точке своего существа самому себе, конечен, шарообразен и обладает чувствительностью во всех своих частях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32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32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Он </a:t>
            </a:r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— 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никогда 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не рожденный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вечный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шарообразный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. Этот «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единый </a:t>
            </a:r>
            <a:r>
              <a:rPr lang="ru-RU" sz="32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Бог, </a:t>
            </a:r>
            <a:r>
              <a:rPr lang="ru-RU" sz="3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не 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подобный смертным ни внешним видом, ни мыслью… всегда </a:t>
            </a: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</a:rPr>
              <a:t>пребывает в одном и том же месте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, никуда не двигаясь, переходить с места на место ему не подобает… Но без усилия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силой ума он все потрясает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…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Всем существом он видит, мыслит и слышит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» (DK B 23, 26, 25, 24).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43027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4909" y="365125"/>
            <a:ext cx="1130530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Эвгемер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из </a:t>
            </a:r>
            <a:r>
              <a:rPr lang="ru-RU" sz="36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Мессены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340 до н.э. — </a:t>
            </a:r>
            <a:r>
              <a:rPr lang="ru-RU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260 до н.э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—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греческий философ из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Школы киренаиков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г.Кирена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сев. Африке).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учения о происхождении религии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вошедшим в историю религии как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Эвгемеризм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согласно которому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вера в богов возникла из культа умерших или живущих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великих или выдающихся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людей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(правителей, жрецов, философов),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возведённых за свои заслуги в степень божеств.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73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379" y="101888"/>
            <a:ext cx="11438020" cy="788447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 Тулий Цицерон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век до н.э.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I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век н.э.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4379" y="890335"/>
            <a:ext cx="8445439" cy="54411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 французской Википедии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fr-F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religion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été définie pour la première fois par </a:t>
            </a:r>
            <a:r>
              <a:rPr lang="fr-F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Cicéron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 «</a:t>
            </a:r>
            <a:r>
              <a:rPr lang="fr-F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fait de s’occuper dune nature supérieure que l’on appelle divine et de lui rendre un culte»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endParaRPr lang="ru-RU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Цицерон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дает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одно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 первых определений религии: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«заниматься природой высшего,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которое мы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называем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божественностью,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учреждать этому культ»</a:t>
            </a:r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75" y="1063769"/>
            <a:ext cx="299085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4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09600" y="334197"/>
            <a:ext cx="11111345" cy="5833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Цицерон, Трактат «О природе богов» (</a:t>
            </a:r>
            <a:r>
              <a:rPr lang="en-US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nat. </a:t>
            </a:r>
            <a:r>
              <a:rPr lang="en-US" sz="3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deor</a:t>
            </a: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II, </a:t>
            </a:r>
            <a:r>
              <a:rPr lang="en-US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«слово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religio</a:t>
            </a:r>
            <a:r>
              <a:rPr lang="en-US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происходит от </a:t>
            </a:r>
            <a:r>
              <a:rPr lang="en-US" sz="3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relegere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(перечитывать).</a:t>
            </a:r>
            <a:endParaRPr lang="ru-RU" sz="3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endParaRPr lang="ru-RU" sz="3600" dirty="0" smtClean="0">
              <a:solidFill>
                <a:prstClr val="black"/>
              </a:solidFill>
            </a:endParaRP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«Т.к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те,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кто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«тщательно обсуждали и затем опять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обдумывали (</a:t>
            </a:r>
            <a:r>
              <a:rPr lang="ru-RU" sz="3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relegerent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все,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относившееся к почитанию богов,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названы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религиозным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от </a:t>
            </a:r>
            <a:r>
              <a:rPr lang="ru-RU" sz="3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relegendo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как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избранные, элегантные</a:t>
            </a:r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3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elegantes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от </a:t>
            </a:r>
            <a:r>
              <a:rPr lang="ru-RU" sz="3600" b="1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eligendo</a:t>
            </a:r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любящие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diligentes</a:t>
            </a:r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3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diligendo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понимающие</a:t>
            </a:r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интеллигентные - </a:t>
            </a:r>
            <a:r>
              <a:rPr lang="ru-RU" sz="36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intelligentes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от </a:t>
            </a:r>
            <a:r>
              <a:rPr lang="ru-RU" sz="3600" b="1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intelligendo</a:t>
            </a:r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40141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04800" y="243370"/>
            <a:ext cx="11309683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Климент Александрийский, христианский апологет 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II-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нач.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н.э.</a:t>
            </a:r>
          </a:p>
          <a:p>
            <a:pPr algn="just"/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Религия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Вера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Пистис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и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Знание (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Гносис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недвойственное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знание)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 выбора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акт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конструирования собственной установки сознания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 который человек несёт ответственность. 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помощью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человек способен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моделировать будущую ситуацию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позволяет обезопасить себя от многих неприятностей. 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Интенсификация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производит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надежду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благодаря которой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Климент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доказывает превосходство религиозной жизни.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Язычники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верят во многих богов, которые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находятся между собой в состоянии перманентного конфликта.</a:t>
            </a:r>
          </a:p>
        </p:txBody>
      </p:sp>
    </p:spTree>
    <p:extLst>
      <p:ext uri="{BB962C8B-B14F-4D97-AF65-F5344CB8AC3E}">
        <p14:creationId xmlns:p14="http://schemas.microsoft.com/office/powerpoint/2010/main" val="295291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387" y="0"/>
            <a:ext cx="8620831" cy="93994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Общее в определениях религии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Христианстве</a:t>
            </a:r>
            <a:endParaRPr lang="ru-RU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388" y="901166"/>
            <a:ext cx="8620830" cy="549963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Религия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generis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(единственное в своем роде),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обозначающее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 Связи человека с Богом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Абсолютом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(силой)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Нумиозным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“numen”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высшая Сила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бога/богов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вызывающая  глубокое эмоциональное переживание)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с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Трансценденцией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(то, что за приделами сознания)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т. д..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источнику и по сущности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Религия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«надмирна», «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неотмирна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», «потустороння», «трансцендентна».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017" y="308219"/>
            <a:ext cx="2952477" cy="421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36182" y="4663203"/>
            <a:ext cx="30633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История религии . Под общей ред. Игоря Николаевича Яблокова. М.: </a:t>
            </a:r>
            <a:r>
              <a:rPr lang="ru-RU" sz="2400" dirty="0" err="1" smtClean="0"/>
              <a:t>Высш</a:t>
            </a:r>
            <a:r>
              <a:rPr lang="ru-RU" sz="2400" dirty="0" smtClean="0"/>
              <a:t>. </a:t>
            </a:r>
            <a:r>
              <a:rPr lang="ru-RU" sz="2400" dirty="0" err="1" smtClean="0"/>
              <a:t>шк</a:t>
            </a:r>
            <a:r>
              <a:rPr lang="ru-RU" sz="2400" dirty="0" smtClean="0"/>
              <a:t>., 2004, М.22: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1663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43345" y="542881"/>
            <a:ext cx="11305309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Средние века и Новое время (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XVI-XVIII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вв.) складывается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«рациональная теология».</a:t>
            </a:r>
          </a:p>
          <a:p>
            <a:pPr algn="ctr"/>
            <a:endParaRPr lang="ru-RU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Доказательства бытия Бога: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Онтологический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аргумент:</a:t>
            </a: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Исходит из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самой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идеи Бога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совершенного существа, из чего делается вывод о его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существовании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поскольку существование является одним из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совершенств. «Если во мне есть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идея совершенного существа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сам я несовершенен, то такое существо должно существовать вне меня» (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Рене Декарт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25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6255" y="252443"/>
            <a:ext cx="11540835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Телеологический (целеполагающий) аргумент:</a:t>
            </a:r>
          </a:p>
          <a:p>
            <a:pPr lvl="0"/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Исходит из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разумности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упорядоченности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 Вселенной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невозможно объяснить случайностью. Такое сложное устройство предполагает наличие разумного замысла, то есть </a:t>
            </a: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Бога.</a:t>
            </a:r>
          </a:p>
          <a:p>
            <a:pPr lvl="0"/>
            <a:endParaRPr lang="ru-RU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Нравственный аргумент: </a:t>
            </a:r>
          </a:p>
          <a:p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сходит из присутствия  в 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людях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врожденного чувства добра и зла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справедливости, которые указывают на существование нравственного Закона и его Подателя – Бога</a:t>
            </a:r>
            <a:r>
              <a:rPr lang="ru-RU" sz="3200" dirty="0" smtClean="0"/>
              <a:t>.</a:t>
            </a:r>
          </a:p>
          <a:p>
            <a:endParaRPr lang="ru-RU" sz="3200" dirty="0"/>
          </a:p>
          <a:p>
            <a:endParaRPr lang="ru-RU" sz="3200" dirty="0"/>
          </a:p>
          <a:p>
            <a:pPr lvl="0"/>
            <a:endParaRPr lang="ru-RU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526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74073" y="611970"/>
            <a:ext cx="1151312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Космологический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аргумент: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Всё должно иметь причину. Цепочка причин не может быть бесконечной,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должна быть самая первая причина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Первопричину всего некоторые называют «Бог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Готфрид Вильгельм Лейбниц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(1646 —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1716): «…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 одно явление не может оказаться истинным или действительным, ни одно утверждение справедливым — без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достаточного основания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почему именно дело обстоит так, а не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иначе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.»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Всё должно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иметь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достаточное основание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поэтому и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Вселенная в целом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должна иметь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достаточное основание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которое находится вне её. Этим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достаточным основанием и является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Бог.</a:t>
            </a:r>
            <a:endParaRPr lang="ru-RU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471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7927" y="297166"/>
            <a:ext cx="1122218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«Экспериментальный» (опытный) аргумент:</a:t>
            </a:r>
          </a:p>
          <a:p>
            <a:pPr lvl="0"/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Исходит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личного опыта 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большинство людей встречалось в своей жизни со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«странными» проявлениями божественного и сверхчеловеческого: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благотворного, Божественного, так и зловредного, демонического, или, наверное, чаще всего, того и другого вместе</a:t>
            </a: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В том числе речь идет о привидениях, призраках, сомнамбулах и т.п.</a:t>
            </a:r>
          </a:p>
          <a:p>
            <a:pPr lvl="0"/>
            <a:endParaRPr lang="ru-RU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Аргумент «</a:t>
            </a:r>
            <a:r>
              <a:rPr lang="de-DE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consensus</a:t>
            </a:r>
            <a:r>
              <a:rPr lang="de-DE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gentium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»: </a:t>
            </a:r>
          </a:p>
          <a:p>
            <a:pPr lvl="0"/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Исходит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общего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признания 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(или установления) всех народов</a:t>
            </a: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в логике превращается в логическую ошибку </a:t>
            </a:r>
            <a:r>
              <a:rPr lang="ru-RU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de-DE" sz="3200" b="1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argumentum</a:t>
            </a:r>
            <a:r>
              <a:rPr lang="de-DE" sz="32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 </a:t>
            </a:r>
            <a:r>
              <a:rPr lang="de-DE" sz="3200" b="1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populum</a:t>
            </a:r>
            <a:r>
              <a:rPr lang="ru-RU" sz="32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endParaRPr lang="ru-RU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315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7927" y="293685"/>
            <a:ext cx="1131916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Трансцендентальный» аргумент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существования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Бога:</a:t>
            </a:r>
          </a:p>
          <a:p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Исходит из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существования мира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 пространства и времени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духовного мира, мира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интеллекта, мысли и свободы воли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– что доказывается наличием в каждом человеке мыслей, которые могут относиться к прошлому и будущему, то есть «путешествовать» в прошлое и будущее, а также мгновенно переноситься в любую точку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пространства (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Иммануил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Кант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616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3236" y="182786"/>
            <a:ext cx="11806716" cy="1034184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Иммануил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Кант</a:t>
            </a:r>
            <a:r>
              <a:rPr lang="ru-RU" sz="3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«Лекции о философском учении о религии» (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1783/84 г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 и «Религия в пределах только разума».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3236" y="1517928"/>
            <a:ext cx="8303248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Религия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наличие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того, что превышает наш разум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может появиться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разуме человека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единственно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как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идея</a:t>
            </a:r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ru-RU" sz="36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Идея высшего блага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морального действия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неизбежно ведет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 идее бога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как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субъекта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такого действия.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236" y="6233946"/>
            <a:ext cx="915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В.Н.Белов</a:t>
            </a:r>
            <a:r>
              <a:rPr lang="ru-RU" dirty="0" smtClean="0"/>
              <a:t>, </a:t>
            </a:r>
            <a:r>
              <a:rPr lang="ru-RU" dirty="0" err="1" smtClean="0"/>
              <a:t>Э.Р.Фахрутдинова</a:t>
            </a:r>
            <a:r>
              <a:rPr lang="ru-RU" dirty="0" smtClean="0"/>
              <a:t>. Кант о </a:t>
            </a:r>
            <a:r>
              <a:rPr lang="ru-RU" dirty="0" err="1" smtClean="0"/>
              <a:t>религиии</a:t>
            </a:r>
            <a:r>
              <a:rPr lang="ru-RU" dirty="0" smtClean="0"/>
              <a:t>, боге, </a:t>
            </a:r>
            <a:r>
              <a:rPr lang="ru-RU" dirty="0"/>
              <a:t>в</a:t>
            </a:r>
            <a:r>
              <a:rPr lang="ru-RU" dirty="0" smtClean="0"/>
              <a:t>ере и церкви //  Кантовский сб., 2017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702" y="1517928"/>
            <a:ext cx="31432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25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02105" y="798024"/>
            <a:ext cx="10780295" cy="5334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Ступени 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появления и формирования 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религии таковы</a:t>
            </a:r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мораль</a:t>
            </a:r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конечная цель морали (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высшее благо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существо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которое способно реализовать это высшее благо в мире как соразмерность счастья человека исполненному им долгу, то есть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Бог.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Антропологический аргумент:</a:t>
            </a:r>
            <a:endParaRPr lang="ru-RU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феномен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наличия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существа и веры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него человека объясняется исключительно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потребностью человеческого разума иметь точку отчета в своих определениях.</a:t>
            </a:r>
          </a:p>
        </p:txBody>
      </p:sp>
    </p:spTree>
    <p:extLst>
      <p:ext uri="{BB962C8B-B14F-4D97-AF65-F5344CB8AC3E}">
        <p14:creationId xmlns:p14="http://schemas.microsoft.com/office/powerpoint/2010/main" val="92453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5420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Людвиг Андреас Фейербах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1804-1872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6462" y="1274618"/>
            <a:ext cx="8053137" cy="490234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Божественная сущность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раскрывающаяся в природе, есть не что иное, как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сама природа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just"/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Она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природа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раскрывается, выявляется и напрашивается человеку как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божественное существо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(Фейербах Л., Лекции о сущности религии. [электронный ресурс], URL: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http://libelli.ru/works/lekcii.htm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</a:p>
          <a:p>
            <a:pPr marL="0" indent="0">
              <a:buNone/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302" y="900546"/>
            <a:ext cx="2957079" cy="464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54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85010" y="432297"/>
            <a:ext cx="11598442" cy="6110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Основу религии 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составляет </a:t>
            </a:r>
            <a:r>
              <a:rPr lang="ru-RU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чувство зависимости человека</a:t>
            </a:r>
            <a:r>
              <a:rPr lang="ru-RU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первоначальном смысле </a:t>
            </a:r>
            <a:r>
              <a:rPr lang="ru-RU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природа и есть предмет этого чувства зависимости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то, от чего человек зависит и чувствует себя зависимым». (Фейербах Л. / Сущность Религии. [электронный ресурс] URL: http://fanread.ru/book/1047781/?page=1 (дата обращения 02.05.2017</a:t>
            </a: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ru-RU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«Прежде </a:t>
            </a: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чем </a:t>
            </a:r>
            <a:r>
              <a:rPr lang="en-US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 вместо чем</a:t>
            </a:r>
            <a:r>
              <a:rPr lang="en-US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искать свою сущность в себе, человек полагает ее вне себя</a:t>
            </a:r>
            <a:r>
              <a:rPr lang="ru-RU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Свою собственную сущность он объективирует в качестве другой сущности</a:t>
            </a:r>
            <a:r>
              <a:rPr lang="ru-RU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.» (Фейербах, Л.: Сущность христианства / Л. Фейербах. -  М., «Мысль», 1965. -  414 с</a:t>
            </a:r>
            <a:r>
              <a:rPr lang="ru-RU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ru-RU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40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4834" y="212725"/>
            <a:ext cx="11664450" cy="1325563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Давид Эмиль Дюркгейм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1858 — 1917,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французский социолог и философ, основатель французской социологической школы, </a:t>
            </a:r>
            <a:b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кн. "Элементарные формы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религиозной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жизни« (1912) 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4833" y="1825625"/>
            <a:ext cx="8542803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Религиозный феномен как 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разновидность социального действия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которое отличается от других единственно лишь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 которому оно направлено.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Такие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священные 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вещи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составляют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особый, 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сакральный мир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отличающийся и как бы отделенный от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мира обычного,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профанного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этим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«священным вещам»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возвращение от них к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вещам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профанного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мира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 обычной жизни,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ритуал.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образом,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религия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включает 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опыт обращения к  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священным вещам»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сопровождающую этот опыт </a:t>
            </a:r>
            <a:r>
              <a:rPr lang="ru-RU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ритуальную </a:t>
            </a:r>
            <a:r>
              <a:rPr lang="ru-RU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деятельность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145" y="1779660"/>
            <a:ext cx="2850139" cy="4155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833" y="6176963"/>
            <a:ext cx="11050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Макс </a:t>
            </a:r>
            <a:r>
              <a:rPr lang="ru-RU" sz="2800" b="1" dirty="0" smtClean="0"/>
              <a:t>Вебер </a:t>
            </a:r>
            <a:r>
              <a:rPr lang="ru-RU" sz="2800" dirty="0" smtClean="0"/>
              <a:t>(1864-1920) и </a:t>
            </a:r>
            <a:r>
              <a:rPr lang="ru-RU" sz="2800" b="1" dirty="0" smtClean="0"/>
              <a:t>Жорж </a:t>
            </a:r>
            <a:r>
              <a:rPr lang="ru-RU" sz="2800" b="1" dirty="0" err="1" smtClean="0"/>
              <a:t>Дюмезиль</a:t>
            </a:r>
            <a:r>
              <a:rPr lang="ru-RU" sz="2800" b="1" dirty="0" smtClean="0"/>
              <a:t> </a:t>
            </a:r>
            <a:r>
              <a:rPr lang="ru-RU" sz="2800" dirty="0" smtClean="0"/>
              <a:t>(1898-1986)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33045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148" y="236788"/>
            <a:ext cx="10515600" cy="662781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Зигмунд Фрейд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(1856-1939), основатель психоанализа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9382" y="899569"/>
            <a:ext cx="7596302" cy="5833740"/>
          </a:xfrm>
        </p:spPr>
        <p:txBody>
          <a:bodyPr>
            <a:noAutofit/>
          </a:bodyPr>
          <a:lstStyle/>
          <a:p>
            <a:pPr algn="just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Религию порождает подавление мощных природных инстинктов социальными нормами.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Она -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иллюзорное исполнение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древнейших, сильнейших,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навязчивых желаний человека</a:t>
            </a:r>
            <a:r>
              <a:rPr lang="ru-RU" sz="3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остающихся неудовлетворенными и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вытесняемых в сферу бессознательного </a:t>
            </a:r>
            <a:r>
              <a:rPr lang="ru-RU" sz="3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(т.е.,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вид сублимации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algn="just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Религия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способ защиты индивида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 враждебного ему социального начала, подавляющего его природные инстинкты».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455" y="1027905"/>
            <a:ext cx="3751093" cy="549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3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67144" y="71767"/>
            <a:ext cx="7412183" cy="923348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Фридрих Ницше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1844-1900, основатель Философии жизни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655" y="242454"/>
            <a:ext cx="3819525" cy="518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7144" y="995115"/>
            <a:ext cx="723207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религии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(=культуры) находится в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сосуществовании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двух начал в человеческой природе: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Дионисийского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Аполлонийского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ru-RU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Первое репрезентирует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роковую, пьянящую, идущую из самых недр природы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страсть жизни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возвращающую человека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 непосредственной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гармонии мира и единству всего со всем.</a:t>
            </a:r>
          </a:p>
        </p:txBody>
      </p:sp>
    </p:spTree>
    <p:extLst>
      <p:ext uri="{BB962C8B-B14F-4D97-AF65-F5344CB8AC3E}">
        <p14:creationId xmlns:p14="http://schemas.microsoft.com/office/powerpoint/2010/main" val="2191648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8545" y="341582"/>
            <a:ext cx="1205345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Второе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окутывает жизнь «прекрасной </a:t>
            </a:r>
            <a:r>
              <a:rPr lang="ru-RU" sz="3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кажимостью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сновиденческих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миров</a:t>
            </a:r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упорядочивает ее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Взаимно преодолевая друг друга, </a:t>
            </a:r>
            <a:r>
              <a:rPr lang="ru-RU" sz="3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дионисийское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аполлонийское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развиваются в строгом соотношении. </a:t>
            </a:r>
          </a:p>
          <a:p>
            <a:pPr lvl="0" algn="just"/>
            <a:endParaRPr lang="ru-RU" sz="3600" b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Есть и Третье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сократическое начало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рациональное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убивает источник жизни.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77091" y="5197841"/>
            <a:ext cx="117625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Культурология </a:t>
            </a:r>
            <a:r>
              <a:rPr lang="ru-RU" sz="3600" b="1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Ф.Ницше</a:t>
            </a:r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Теоретический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</a:t>
            </a:r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европейского неоязычества </a:t>
            </a:r>
            <a:endParaRPr lang="ru-RU" sz="3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149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809509" cy="516739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Религиоведческий «интуитивизм»</a:t>
            </a:r>
            <a:endParaRPr lang="ru-RU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4949" y="160619"/>
            <a:ext cx="4350327" cy="446073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44378" y="1097307"/>
            <a:ext cx="650580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b="1" dirty="0" smtClean="0"/>
              <a:t>«Религия </a:t>
            </a:r>
            <a:r>
              <a:rPr lang="ru-RU" sz="3200" dirty="0" smtClean="0"/>
              <a:t>есть</a:t>
            </a:r>
            <a:r>
              <a:rPr lang="ru-RU" sz="3200" b="1" dirty="0" smtClean="0"/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переживание священного»</a:t>
            </a:r>
            <a:r>
              <a:rPr lang="ru-RU" sz="3200" dirty="0" smtClean="0"/>
              <a:t>.</a:t>
            </a:r>
          </a:p>
          <a:p>
            <a:pPr algn="just"/>
            <a:endParaRPr lang="ru-RU" sz="3200" dirty="0"/>
          </a:p>
          <a:p>
            <a:pPr algn="just"/>
            <a:r>
              <a:rPr lang="ru-RU" sz="3200" dirty="0" smtClean="0"/>
              <a:t>«</a:t>
            </a:r>
            <a:r>
              <a:rPr lang="ru-RU" sz="3200" b="1" dirty="0" smtClean="0"/>
              <a:t>Универсальное ядро всех религий </a:t>
            </a:r>
            <a:r>
              <a:rPr lang="ru-RU" sz="3200" dirty="0" smtClean="0"/>
              <a:t>составляет связь </a:t>
            </a:r>
            <a:r>
              <a:rPr lang="ru-RU" sz="3200" b="1" dirty="0" smtClean="0">
                <a:solidFill>
                  <a:srgbClr val="C00000"/>
                </a:solidFill>
              </a:rPr>
              <a:t>(«встреча») </a:t>
            </a:r>
            <a:r>
              <a:rPr lang="ru-RU" sz="3200" b="1" dirty="0" smtClean="0">
                <a:solidFill>
                  <a:srgbClr val="C00000"/>
                </a:solidFill>
              </a:rPr>
              <a:t>человека с той </a:t>
            </a:r>
            <a:r>
              <a:rPr lang="ru-RU" sz="3200" b="1" dirty="0" smtClean="0">
                <a:solidFill>
                  <a:srgbClr val="C00000"/>
                </a:solidFill>
              </a:rPr>
              <a:t>«сверхчеловеческой силой»</a:t>
            </a:r>
            <a:r>
              <a:rPr lang="ru-RU" sz="3200" dirty="0" smtClean="0">
                <a:solidFill>
                  <a:srgbClr val="C00000"/>
                </a:solidFill>
              </a:rPr>
              <a:t>, </a:t>
            </a:r>
            <a:r>
              <a:rPr lang="ru-RU" sz="3200" dirty="0" smtClean="0"/>
              <a:t>которая может быть переживаемой и понимаемой им</a:t>
            </a:r>
            <a:r>
              <a:rPr lang="ru-RU" sz="3200" dirty="0" smtClean="0"/>
              <a:t>.</a:t>
            </a:r>
            <a:endParaRPr lang="ru-RU" sz="3200" dirty="0"/>
          </a:p>
          <a:p>
            <a:pPr algn="just"/>
            <a:r>
              <a:rPr lang="en-US" sz="3200" dirty="0" smtClean="0"/>
              <a:t>(</a:t>
            </a:r>
            <a:r>
              <a:rPr lang="en-US" sz="3200" b="1" dirty="0" smtClean="0"/>
              <a:t>Sociology of Religion, Chicago, 1944</a:t>
            </a:r>
            <a:r>
              <a:rPr lang="en-US" sz="3200" dirty="0" smtClean="0"/>
              <a:t>).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129146" y="4159684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6650182" y="4841530"/>
            <a:ext cx="55418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Йоахим </a:t>
            </a:r>
            <a:r>
              <a:rPr lang="ru-RU" sz="2400" b="1" dirty="0" err="1" smtClean="0"/>
              <a:t>Вах</a:t>
            </a:r>
            <a:r>
              <a:rPr lang="ru-RU" sz="2400" b="1" dirty="0" smtClean="0"/>
              <a:t> (</a:t>
            </a:r>
            <a:r>
              <a:rPr lang="ru-RU" sz="2400" b="1" dirty="0" err="1" smtClean="0"/>
              <a:t>Joachim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Wach</a:t>
            </a:r>
            <a:r>
              <a:rPr lang="ru-RU" sz="2400" b="1" dirty="0" smtClean="0"/>
              <a:t>), </a:t>
            </a:r>
            <a:r>
              <a:rPr lang="ru-RU" sz="2400" dirty="0" smtClean="0"/>
              <a:t>1898 - 1955, немецко-американский </a:t>
            </a:r>
            <a:r>
              <a:rPr lang="ru-RU" sz="2400" b="1" dirty="0" smtClean="0"/>
              <a:t>протестантский теолог, социолог, историк религии</a:t>
            </a:r>
            <a:r>
              <a:rPr lang="ru-RU" sz="2400" dirty="0" smtClean="0"/>
              <a:t>, один из самых выдающихся религиоведов.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61096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744" y="172620"/>
            <a:ext cx="11529540" cy="1377480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Джон Милтон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Йингер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американский социолог религии, р. 1916, представитель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Экзистенциального функционализма (Прагматизма) </a:t>
            </a:r>
            <a:endParaRPr lang="ru-RU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9744" y="1742606"/>
            <a:ext cx="8154649" cy="5115394"/>
          </a:xfrm>
        </p:spPr>
        <p:txBody>
          <a:bodyPr>
            <a:normAutofit/>
          </a:bodyPr>
          <a:lstStyle/>
          <a:p>
            <a:pPr algn="just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Религия - система верований и практик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 помощью которых та или иная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людей справляется с «последними», «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конечными» проблемами жизни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человеческой: </a:t>
            </a:r>
          </a:p>
          <a:p>
            <a:pPr algn="just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—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отказ капитулировать перед смертью</a:t>
            </a:r>
            <a:r>
              <a:rPr lang="ru-RU" sz="3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способность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преодолеть разочарование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позволить вражде восторжествовать в человеческих отношениях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разрушить человеческое сообщество.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033" y="1550099"/>
            <a:ext cx="3144252" cy="446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74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2926" y="402595"/>
            <a:ext cx="11309685" cy="496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Сама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человеческая природа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такова, что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терпит вакуума веры. </a:t>
            </a:r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Религия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также – теоретический инструмент для решения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теодицеи (оправдание Бога)</a:t>
            </a:r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религиозного решения проблемы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смысла жизни и смерти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Общество называет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религией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принимает за религию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попытки решения этого круга проблем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2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571" y="240168"/>
            <a:ext cx="11634671" cy="1094731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Эдвард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Бёрнетт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Тайлор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1832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-1917 — английский этнолог, культуролог, исследователь религиозных обрядов и церемоний. Один из основателей 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этнологии и антропологии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983" y="1683975"/>
            <a:ext cx="8922326" cy="5005583"/>
          </a:xfrm>
        </p:spPr>
        <p:txBody>
          <a:bodyPr>
            <a:noAutofit/>
          </a:bodyPr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Считается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отцом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эволюционной теории развития культуры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Основоположник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анимистической теории происхождения религии</a:t>
            </a:r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нужно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расчленить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культуру (религию)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составные части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классифицировать в зависимости от географической и исторической принадлежности, а затем составить из них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ряды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814" y="1683975"/>
            <a:ext cx="27813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27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0420" y="415211"/>
            <a:ext cx="11758863" cy="6553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Явления культуры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подобно растениям и животным, распадаются на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роды, виды, подвиды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ru-RU" sz="3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религии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верование в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духовные существа</a:t>
            </a:r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верование в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одушевление всей природы (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гилозоизм</a:t>
            </a:r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которое достигает своей высшей точки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олицетворении её,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т.е. в 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перенесение личностных качеств людей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неодушевленный мир =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Анимизм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Джеймс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Джордж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Фрэ́зер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1854-1941,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«Золотая ветвь»: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тотемизм, магия и анимизм;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Бронислав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Малиновский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/>
              <a:t>1884-1942, «Магия. Наука. Религия». </a:t>
            </a:r>
            <a:endParaRPr lang="ru-RU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899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8758" y="161925"/>
            <a:ext cx="11292334" cy="1771806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Ми́рча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Элиа́де</a:t>
            </a:r>
            <a:r>
              <a:rPr lang="ru-RU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1907 - 1986 — румынский, французский и американский философ, философ культуры, религиовед, историк религий, этнограф и писатель, представитель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Структурализма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9594" y="2201862"/>
            <a:ext cx="8311109" cy="418508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ответить на вопрос: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религия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?»,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 достаточно сказать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нее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входит»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это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	</a:t>
            </a:r>
          </a:p>
          <a:p>
            <a:pPr marL="801688" indent="0">
              <a:buNone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верования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(мифы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lang="ru-RU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1688" indent="0">
              <a:buNone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ритуалы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(культ)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этос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(склонности </a:t>
            </a:r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моральные ценности группы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algn="just"/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1688" indent="0"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890" y="1589672"/>
            <a:ext cx="3034145" cy="438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5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2926" y="469455"/>
            <a:ext cx="11839074" cy="4836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мировоззрение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(познавательная перспектива, в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которой жизненный опыт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столкновения с необыкновенным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рассматривается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составная часть общего бытия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осмысленного целого,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космологии);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ru-RU" sz="3600" b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ru-RU" sz="36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символов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(помогающих </a:t>
            </a:r>
            <a:r>
              <a:rPr lang="ru-RU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выразить </a:t>
            </a:r>
            <a:r>
              <a:rPr lang="ru-RU" sz="3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«невыразимое»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обозначить в слове не укладывающиеся в рациональные понятия чувства, эмоции, переживания, в которых живет вера на психологическом уровне).</a:t>
            </a:r>
          </a:p>
        </p:txBody>
      </p:sp>
    </p:spTree>
    <p:extLst>
      <p:ext uri="{BB962C8B-B14F-4D97-AF65-F5344CB8AC3E}">
        <p14:creationId xmlns:p14="http://schemas.microsoft.com/office/powerpoint/2010/main" val="1025778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56310" y="3310810"/>
            <a:ext cx="155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 </a:t>
            </a:r>
            <a:endParaRPr lang="ru-RU" sz="24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734291" y="61998"/>
            <a:ext cx="10062045" cy="4499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 smtClean="0"/>
              <a:t>Структура религиозного </a:t>
            </a:r>
            <a:r>
              <a:rPr lang="ru-RU" sz="2400" b="1" dirty="0" smtClean="0">
                <a:solidFill>
                  <a:srgbClr val="C00000"/>
                </a:solidFill>
              </a:rPr>
              <a:t>миросозерцания</a:t>
            </a:r>
            <a:r>
              <a:rPr lang="ru-RU" sz="2400" b="1" dirty="0" smtClean="0"/>
              <a:t> </a:t>
            </a:r>
            <a:r>
              <a:rPr lang="ru-RU" sz="2400" dirty="0" smtClean="0"/>
              <a:t>/ </a:t>
            </a:r>
            <a:r>
              <a:rPr lang="en-US" sz="2400" b="1" dirty="0" err="1" smtClean="0">
                <a:solidFill>
                  <a:srgbClr val="C00000"/>
                </a:solidFill>
              </a:rPr>
              <a:t>Weltanschaugung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734291" y="727703"/>
            <a:ext cx="9446039" cy="5745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 smtClean="0"/>
              <a:t>Священно</a:t>
            </a:r>
            <a:r>
              <a:rPr lang="en-US" sz="2400" b="1" dirty="0" smtClean="0"/>
              <a:t>e</a:t>
            </a:r>
            <a:r>
              <a:rPr lang="ru-RU" sz="2400" dirty="0" smtClean="0"/>
              <a:t> или первые (элементарные) </a:t>
            </a:r>
            <a:r>
              <a:rPr lang="ru-RU" sz="2400" b="1" dirty="0" err="1" smtClean="0">
                <a:solidFill>
                  <a:srgbClr val="C00000"/>
                </a:solidFill>
              </a:rPr>
              <a:t>Иерофании</a:t>
            </a:r>
            <a:r>
              <a:rPr lang="ru-RU" sz="2400" b="1" dirty="0" smtClean="0">
                <a:solidFill>
                  <a:srgbClr val="C00000"/>
                </a:solidFill>
              </a:rPr>
              <a:t> </a:t>
            </a:r>
            <a:r>
              <a:rPr lang="ru-RU" sz="2400" dirty="0" smtClean="0">
                <a:solidFill>
                  <a:srgbClr val="C00000"/>
                </a:solidFill>
              </a:rPr>
              <a:t>/</a:t>
            </a:r>
            <a:r>
              <a:rPr lang="ru-RU" sz="2400" dirty="0" smtClean="0"/>
              <a:t> </a:t>
            </a:r>
            <a:r>
              <a:rPr lang="ru-RU" sz="2400" b="1" dirty="0" err="1" smtClean="0"/>
              <a:t>Мана</a:t>
            </a:r>
            <a:endParaRPr lang="ru-RU" sz="2400" b="1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353289" y="1495324"/>
            <a:ext cx="1316181" cy="14273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Небо </a:t>
            </a:r>
            <a:r>
              <a:rPr lang="ru-RU" dirty="0" smtClean="0"/>
              <a:t>(отцовское божество)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4578241" y="1448406"/>
            <a:ext cx="2033163" cy="1788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Животный, растительный и предметный мир </a:t>
            </a:r>
            <a:r>
              <a:rPr lang="ru-RU" dirty="0" smtClean="0"/>
              <a:t>как источник существования и источник опасности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6738493" y="1553216"/>
            <a:ext cx="1982918" cy="14667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Продолжение рода и секс</a:t>
            </a:r>
            <a:r>
              <a:rPr lang="ru-RU" dirty="0" smtClean="0"/>
              <a:t>, происхождение </a:t>
            </a:r>
            <a:r>
              <a:rPr lang="ru-RU" b="1" dirty="0" smtClean="0"/>
              <a:t>социума</a:t>
            </a:r>
            <a:endParaRPr lang="ru-RU" b="1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8975589" y="1567130"/>
            <a:ext cx="1431332" cy="14199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Смерть</a:t>
            </a:r>
            <a:r>
              <a:rPr lang="ru-RU" dirty="0" smtClean="0"/>
              <a:t> и переход в иной мир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1729934" y="1521844"/>
            <a:ext cx="1498175" cy="16350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Земля </a:t>
            </a:r>
            <a:r>
              <a:rPr lang="ru-RU" dirty="0" smtClean="0"/>
              <a:t>(божество материнское и инфернальное)</a:t>
            </a:r>
            <a:endParaRPr lang="ru-RU" dirty="0"/>
          </a:p>
        </p:txBody>
      </p:sp>
      <p:sp>
        <p:nvSpPr>
          <p:cNvPr id="27" name="Овал 26"/>
          <p:cNvSpPr/>
          <p:nvPr/>
        </p:nvSpPr>
        <p:spPr>
          <a:xfrm>
            <a:off x="10589423" y="1058233"/>
            <a:ext cx="1882078" cy="328581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ru-RU" sz="2800" b="1" dirty="0" smtClean="0"/>
              <a:t>Откровение</a:t>
            </a:r>
            <a:endParaRPr lang="ru-RU" sz="2800" b="1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4210650" y="3378711"/>
            <a:ext cx="4425602" cy="4163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smtClean="0"/>
              <a:t>Миф и ритуал</a:t>
            </a:r>
            <a:endParaRPr lang="ru-RU" sz="2400" b="1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567806" y="3515692"/>
            <a:ext cx="1101195" cy="2257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Теогония, космогония, эсхатология</a:t>
            </a:r>
            <a:endParaRPr lang="ru-RU" b="1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4360895" y="3968128"/>
            <a:ext cx="1736461" cy="18367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Тотемизм</a:t>
            </a:r>
            <a:r>
              <a:rPr lang="ru-RU" dirty="0" smtClean="0"/>
              <a:t>, </a:t>
            </a:r>
            <a:r>
              <a:rPr lang="ru-RU" b="1" dirty="0" smtClean="0"/>
              <a:t>фетишизм</a:t>
            </a:r>
            <a:r>
              <a:rPr lang="ru-RU" dirty="0" smtClean="0"/>
              <a:t>, </a:t>
            </a:r>
            <a:r>
              <a:rPr lang="ru-RU" b="1" dirty="0" smtClean="0"/>
              <a:t>охотничьи и растительные культы</a:t>
            </a:r>
            <a:r>
              <a:rPr lang="ru-RU" dirty="0" smtClean="0"/>
              <a:t>, </a:t>
            </a:r>
            <a:r>
              <a:rPr lang="ru-RU" b="1" dirty="0" smtClean="0"/>
              <a:t>магия, гадания </a:t>
            </a:r>
            <a:endParaRPr lang="ru-RU" b="1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6532227" y="4080768"/>
            <a:ext cx="1962383" cy="1455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Антропогония, табу</a:t>
            </a:r>
            <a:r>
              <a:rPr lang="ru-RU" dirty="0" smtClean="0"/>
              <a:t>, </a:t>
            </a:r>
            <a:r>
              <a:rPr lang="ru-RU" b="1" dirty="0" smtClean="0"/>
              <a:t>обожествление власти</a:t>
            </a:r>
            <a:endParaRPr lang="ru-RU" b="1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8743165" y="3711865"/>
            <a:ext cx="1917934" cy="19136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Гилозоизм, Анимизм</a:t>
            </a:r>
            <a:r>
              <a:rPr lang="ru-RU" dirty="0" smtClean="0"/>
              <a:t>,  культ мертвых , морально-этические установления и </a:t>
            </a:r>
            <a:r>
              <a:rPr lang="ru-RU" b="1" dirty="0" err="1" smtClean="0"/>
              <a:t>сотериология</a:t>
            </a:r>
            <a:endParaRPr lang="ru-RU" b="1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1935337" y="3654840"/>
            <a:ext cx="1904996" cy="18597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Космология</a:t>
            </a:r>
            <a:r>
              <a:rPr lang="ru-RU" dirty="0" smtClean="0"/>
              <a:t> и </a:t>
            </a:r>
            <a:r>
              <a:rPr lang="ru-RU" b="1" dirty="0" smtClean="0"/>
              <a:t>циклические земледельческие культы, оракулы, </a:t>
            </a:r>
            <a:endParaRPr lang="ru-RU" b="1" dirty="0"/>
          </a:p>
        </p:txBody>
      </p:sp>
      <p:sp>
        <p:nvSpPr>
          <p:cNvPr id="34" name="Прямоугольник 33"/>
          <p:cNvSpPr/>
          <p:nvPr/>
        </p:nvSpPr>
        <p:spPr>
          <a:xfrm>
            <a:off x="1908463" y="5984262"/>
            <a:ext cx="9247528" cy="716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smtClean="0"/>
              <a:t>Обряд, священнослужители, </a:t>
            </a:r>
            <a:r>
              <a:rPr lang="ru-RU" sz="2400" b="1" dirty="0" err="1" smtClean="0"/>
              <a:t>институализации</a:t>
            </a:r>
            <a:r>
              <a:rPr lang="ru-RU" sz="2400" b="1" dirty="0" smtClean="0"/>
              <a:t> культа, тайные общества </a:t>
            </a:r>
            <a:endParaRPr lang="ru-RU" sz="2400" b="1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3491345" y="1567130"/>
            <a:ext cx="689274" cy="14220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Вода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86134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419726" y="971184"/>
            <a:ext cx="11467474" cy="5624488"/>
          </a:xfrm>
        </p:spPr>
        <p:txBody>
          <a:bodyPr>
            <a:normAutofit fontScale="40000" lnSpcReduction="20000"/>
          </a:bodyPr>
          <a:lstStyle/>
          <a:p>
            <a:endParaRPr lang="ru-RU" dirty="0" smtClean="0"/>
          </a:p>
          <a:p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Вебеp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М. Социология религии (типы религиозных сообществ) // Работы М. Вебера но социологии и идеологии. М., 1985. С. 76-86.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религии . В 2 т. Т. 1. Учебник / В. В. Винокуров, И 90 А. П.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Забияко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3. Г. Лапина и др.; Под общей ред. И. Н. Яблокова.— 2-е изд.,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испр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и доп.— М.: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Высш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шк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., 2004.— 464 с.</a:t>
            </a:r>
          </a:p>
          <a:p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Парсонс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Т. Введение. Общий обзор // Американская социология. М., 1972. С. 25-36, 360-378.</a:t>
            </a:r>
            <a:endParaRPr lang="el-GR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Малиновский Б. Магия. Наука. Религия :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Пер.с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англ. = </a:t>
            </a:r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Magic, Science, and Religion / 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Вступ. статьи Р.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Редфилда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др. — М.: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Рефл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-бук, 1998. — 288 с. </a:t>
            </a:r>
          </a:p>
          <a:p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Фрэзер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Дж. Дж. Золотая ветвь. Исследование магии и религии. / Пер. с англ. М. К. </a:t>
            </a:r>
            <a:r>
              <a:rPr lang="ru-RU" sz="6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Рыклина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М.: Политиздат, 1980.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Элиаде М. </a:t>
            </a:r>
            <a:r>
              <a:rPr lang="ru-RU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Трактат по истории религий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(в 2-х тт.) / Пер. с фр. А. А. Васильева. — СПб.: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Алетейя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2000.</a:t>
            </a:r>
          </a:p>
          <a:p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Элиаде М. </a:t>
            </a:r>
            <a:r>
              <a:rPr lang="ru-RU" sz="6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Священное </a:t>
            </a:r>
            <a:r>
              <a:rPr lang="ru-RU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мирское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/ Пер. с фр., предисл. и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ru-RU" sz="6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tooltip="Гарбовский, Николай Константинович (страница отсутствует)"/>
              </a:rPr>
              <a:t>Н. К. </a:t>
            </a:r>
            <a:r>
              <a:rPr lang="ru-RU" sz="6000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tooltip="Гарбовский, Николай Константинович (страница отсутствует)"/>
              </a:rPr>
              <a:t>Гарбовского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— М.: Изд-во МГУ, 1994</a:t>
            </a:r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4026" y="314793"/>
            <a:ext cx="9024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Библиография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8555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3924</TotalTime>
  <Words>2474</Words>
  <Application>Microsoft Office PowerPoint</Application>
  <PresentationFormat>Широкоэкранный</PresentationFormat>
  <Paragraphs>163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Wingdings</vt:lpstr>
      <vt:lpstr>Тема Office</vt:lpstr>
      <vt:lpstr>История мировых религий</vt:lpstr>
      <vt:lpstr>Что такое религия? Основные определения «религии». </vt:lpstr>
      <vt:lpstr>Презентация PowerPoint</vt:lpstr>
      <vt:lpstr>Ксенофан из Колофона (=совр. Измир), ок. 570 до н. э. - 475 до н. э., древнегреческий поэт и философ. </vt:lpstr>
      <vt:lpstr>Презентация PowerPoint</vt:lpstr>
      <vt:lpstr>Эвгемер из Мессены, ок. 340 до н.э. — ок. 260 до н.э. — греческий философ из Школы киренаиков (г.Кирена в сев. Африке).</vt:lpstr>
      <vt:lpstr>Марк Тулий Цицерон, I век до н.э. – I век н.э.</vt:lpstr>
      <vt:lpstr>Презентация PowerPoint</vt:lpstr>
      <vt:lpstr>Презентация PowerPoint</vt:lpstr>
      <vt:lpstr>Общее в определениях религии в Христианстве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Иммануил Кант, «Лекции о философском учении о религии» (1783/84 г.) и «Религия в пределах только разума».</vt:lpstr>
      <vt:lpstr>Презентация PowerPoint</vt:lpstr>
      <vt:lpstr>Людвиг Андреас Фейербах, 1804-1872</vt:lpstr>
      <vt:lpstr>Презентация PowerPoint</vt:lpstr>
      <vt:lpstr>Давид Эмиль Дюркгейм, 1858 — 1917, французский социолог и философ, основатель французской социологической школы,  кн. "Элементарные формы религиозной жизни« (1912) </vt:lpstr>
      <vt:lpstr>Зигмунд Фрейд (1856-1939), основатель психоанализа</vt:lpstr>
      <vt:lpstr>Фридрих Ницше, 1844-1900, основатель Философии жизни</vt:lpstr>
      <vt:lpstr>Презентация PowerPoint</vt:lpstr>
      <vt:lpstr>Религиоведческий «интуитивизм»</vt:lpstr>
      <vt:lpstr>Джон Милтон Йингер, американский социолог религии, р. 1916, представитель Экзистенциального функционализма (Прагматизма) </vt:lpstr>
      <vt:lpstr>Презентация PowerPoint</vt:lpstr>
      <vt:lpstr>Эдвард Бёрнетт Тайлор, 1832 -1917 — английский этнолог, культуролог, исследователь религиозных обрядов и церемоний. Один из основателей этнологии и антропологии.</vt:lpstr>
      <vt:lpstr>Презентация PowerPoint</vt:lpstr>
      <vt:lpstr>Ми́рча Элиа́де , 1907 - 1986 — румынский, французский и американский философ, философ культуры, религиовед, историк религий, этнограф и писатель, представитель Структурализма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мировых религий</dc:title>
  <dc:creator>Пользователь Windows</dc:creator>
  <cp:lastModifiedBy>Пользователь Windows</cp:lastModifiedBy>
  <cp:revision>110</cp:revision>
  <dcterms:created xsi:type="dcterms:W3CDTF">2019-02-09T13:33:54Z</dcterms:created>
  <dcterms:modified xsi:type="dcterms:W3CDTF">2025-09-02T05:46:55Z</dcterms:modified>
</cp:coreProperties>
</file>